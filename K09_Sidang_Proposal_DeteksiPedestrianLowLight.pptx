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300" y="-2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1097280"/>
            <a:ext cx="4389120" cy="365760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000" b="1">
                <a:solidFill>
                  <a:srgbClr val="F8FAFC"/>
                </a:solidFill>
                <a:latin typeface="Segoe UI"/>
              </a:defRPr>
            </a:pPr>
            <a:r>
              <a:t>SIDANG PROPOSAL UTS — COMPUTER VISION 2026/2027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69848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F8FAFC"/>
                </a:solidFill>
                <a:latin typeface="Segoe UI"/>
              </a:defRPr>
            </a:pPr>
            <a:r>
              <a:rPr dirty="0" err="1"/>
              <a:t>Peningkatan</a:t>
            </a:r>
            <a:r>
              <a:rPr dirty="0"/>
              <a:t> Recall </a:t>
            </a:r>
            <a:r>
              <a:rPr dirty="0" err="1"/>
              <a:t>Deteksi</a:t>
            </a:r>
            <a:r>
              <a:rPr dirty="0"/>
              <a:t> </a:t>
            </a:r>
            <a:r>
              <a:rPr dirty="0" err="1"/>
              <a:t>Pejalan</a:t>
            </a:r>
            <a:r>
              <a:rPr dirty="0"/>
              <a:t> Kaki</a:t>
            </a:r>
            <a:br>
              <a:rPr dirty="0"/>
            </a:br>
            <a:r>
              <a:rPr dirty="0"/>
              <a:t>pada </a:t>
            </a:r>
            <a:r>
              <a:rPr dirty="0" err="1"/>
              <a:t>Kondisi</a:t>
            </a:r>
            <a:r>
              <a:rPr dirty="0"/>
              <a:t> Minim Cahaya</a:t>
            </a:r>
          </a:p>
          <a:p>
            <a:pPr>
              <a:defRPr sz="1500">
                <a:solidFill>
                  <a:srgbClr val="38BDF8"/>
                </a:solidFill>
                <a:latin typeface="Segoe UI"/>
              </a:defRPr>
            </a:pPr>
            <a:r>
              <a:rPr dirty="0" err="1"/>
              <a:t>Menggunakan</a:t>
            </a:r>
            <a:r>
              <a:rPr dirty="0"/>
              <a:t> YOLOv8-Nano dan </a:t>
            </a:r>
            <a:r>
              <a:rPr dirty="0" err="1"/>
              <a:t>Prapemrosesan</a:t>
            </a:r>
            <a:r>
              <a:rPr dirty="0"/>
              <a:t> </a:t>
            </a:r>
            <a:r>
              <a:rPr dirty="0" err="1"/>
              <a:t>Augmentasi</a:t>
            </a:r>
            <a:r>
              <a:rPr dirty="0"/>
              <a:t> </a:t>
            </a:r>
            <a:r>
              <a:rPr dirty="0" err="1"/>
              <a:t>Pencahayaan</a:t>
            </a:r>
            <a:r>
              <a:rPr dirty="0"/>
              <a:t> </a:t>
            </a:r>
            <a:r>
              <a:rPr dirty="0" err="1"/>
              <a:t>Adaptif</a:t>
            </a:r>
            <a:r>
              <a:rPr dirty="0"/>
              <a:t> (CLAHE &amp; Gamma Correction)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749039"/>
            <a:ext cx="1069848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3977639"/>
            <a:ext cx="1014984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4D399"/>
                </a:solidFill>
                <a:latin typeface="Segoe UI"/>
              </a:defRPr>
            </a:pPr>
            <a:r>
              <a:t>KELOMPOK 9  |  Mata Kuliah: Visi Komputer (IF0PP006) — Kelas 5PITA</a:t>
            </a:r>
          </a:p>
          <a:p>
            <a:pPr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 Krisantus Linardi  —  Data &amp; Preprocessing Lead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Segoe UI"/>
              </a:defRPr>
            </a:pPr>
            <a:r>
              <a:t>    Audit integritas data, eksplorasi class imbalance, pipeline CLAHE kanal-L, dan isolasi data leakage.</a:t>
            </a:r>
          </a:p>
          <a:p>
            <a:pPr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 Kristofer Leonard  —  Model &amp; Deployment Lead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    Pelatihan model YOLOv8-Nano, eksperimen terkontrol komparatif, evaluasi Recall, dan prototype Streamlit.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rPr dirty="0"/>
              <a:t>01. LATAR BELAKANG &amp; URGENSI MASALAH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rPr dirty="0" err="1"/>
              <a:t>Mengapa</a:t>
            </a:r>
            <a:r>
              <a:rPr dirty="0"/>
              <a:t> </a:t>
            </a:r>
            <a:r>
              <a:rPr dirty="0" err="1"/>
              <a:t>Deteksi</a:t>
            </a:r>
            <a:r>
              <a:rPr dirty="0"/>
              <a:t> </a:t>
            </a:r>
            <a:r>
              <a:rPr dirty="0" err="1"/>
              <a:t>Pejalan</a:t>
            </a:r>
            <a:r>
              <a:rPr dirty="0"/>
              <a:t> Kaki Malam Hari Sangat </a:t>
            </a:r>
            <a:r>
              <a:rPr dirty="0" err="1"/>
              <a:t>Kritis</a:t>
            </a:r>
            <a:r>
              <a:rPr dirty="0"/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98448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Keselamatan pejalan kaki di malam hari adalah isu berisiko tinggi (Life-Critical Task) bagi ADAS dan Smart Mobility.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728655" cy="914400"/>
          </a:xfrm>
          <a:prstGeom prst="roundRect">
            <a:avLst/>
          </a:prstGeom>
          <a:solidFill>
            <a:srgbClr val="450A0A"/>
          </a:solidFill>
          <a:ln w="1270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B7185"/>
                </a:solidFill>
                <a:latin typeface="Segoe UI"/>
              </a:defRPr>
            </a:pPr>
            <a:r>
              <a:rPr dirty="0"/>
              <a:t>FAKTA KESELAMATAN JALAN: 70%+ KECELAKAAN FATAL TERJADI SAAT GELAP</a:t>
            </a:r>
          </a:p>
          <a:p>
            <a:pPr>
              <a:defRPr sz="1100">
                <a:solidFill>
                  <a:srgbClr val="F8FAFC"/>
                </a:solidFill>
                <a:latin typeface="Segoe UI"/>
              </a:defRPr>
            </a:pPr>
            <a:r>
              <a:rPr dirty="0" err="1"/>
              <a:t>Statistik</a:t>
            </a:r>
            <a:r>
              <a:rPr dirty="0"/>
              <a:t> </a:t>
            </a:r>
            <a:r>
              <a:rPr dirty="0" err="1"/>
              <a:t>kecelakaan</a:t>
            </a:r>
            <a:r>
              <a:rPr dirty="0"/>
              <a:t> </a:t>
            </a:r>
            <a:r>
              <a:rPr dirty="0" err="1"/>
              <a:t>lalu</a:t>
            </a:r>
            <a:r>
              <a:rPr dirty="0"/>
              <a:t> </a:t>
            </a:r>
            <a:r>
              <a:rPr dirty="0" err="1"/>
              <a:t>lintas</a:t>
            </a:r>
            <a:r>
              <a:rPr dirty="0"/>
              <a:t> </a:t>
            </a:r>
            <a:r>
              <a:rPr dirty="0" err="1"/>
              <a:t>menunjukkan</a:t>
            </a:r>
            <a:r>
              <a:rPr dirty="0"/>
              <a:t> </a:t>
            </a:r>
            <a:r>
              <a:rPr dirty="0" err="1"/>
              <a:t>risiko</a:t>
            </a:r>
            <a:r>
              <a:rPr dirty="0"/>
              <a:t> </a:t>
            </a:r>
            <a:r>
              <a:rPr dirty="0" err="1"/>
              <a:t>fatalitas</a:t>
            </a:r>
            <a:r>
              <a:rPr dirty="0"/>
              <a:t> </a:t>
            </a:r>
            <a:r>
              <a:rPr dirty="0" err="1"/>
              <a:t>pejalan</a:t>
            </a:r>
            <a:r>
              <a:rPr dirty="0"/>
              <a:t> kaki </a:t>
            </a:r>
            <a:r>
              <a:rPr dirty="0" err="1"/>
              <a:t>meningkat</a:t>
            </a:r>
            <a:r>
              <a:rPr dirty="0"/>
              <a:t> </a:t>
            </a:r>
            <a:r>
              <a:rPr dirty="0" err="1"/>
              <a:t>drastis</a:t>
            </a:r>
            <a:r>
              <a:rPr dirty="0"/>
              <a:t> pada </a:t>
            </a:r>
            <a:r>
              <a:rPr dirty="0" err="1"/>
              <a:t>kondisi</a:t>
            </a:r>
            <a:r>
              <a:rPr dirty="0"/>
              <a:t> </a:t>
            </a:r>
            <a:r>
              <a:rPr dirty="0" err="1"/>
              <a:t>malam</a:t>
            </a:r>
            <a:r>
              <a:rPr dirty="0"/>
              <a:t> </a:t>
            </a:r>
            <a:r>
              <a:rPr dirty="0" err="1"/>
              <a:t>hari</a:t>
            </a:r>
            <a:r>
              <a:rPr dirty="0"/>
              <a:t> </a:t>
            </a:r>
            <a:r>
              <a:rPr dirty="0" err="1"/>
              <a:t>akibat</a:t>
            </a:r>
            <a:r>
              <a:rPr dirty="0"/>
              <a:t> </a:t>
            </a:r>
            <a:r>
              <a:rPr dirty="0" err="1"/>
              <a:t>keterbatasan</a:t>
            </a:r>
            <a:r>
              <a:rPr dirty="0"/>
              <a:t> </a:t>
            </a:r>
            <a:r>
              <a:rPr dirty="0" err="1"/>
              <a:t>visibilitas</a:t>
            </a:r>
            <a:r>
              <a:rPr dirty="0"/>
              <a:t> </a:t>
            </a:r>
            <a:r>
              <a:rPr dirty="0" err="1"/>
              <a:t>pengemudi</a:t>
            </a:r>
            <a:r>
              <a:rPr dirty="0"/>
              <a:t> dan </a:t>
            </a:r>
            <a:r>
              <a:rPr dirty="0" err="1"/>
              <a:t>kegagalan</a:t>
            </a:r>
            <a:r>
              <a:rPr dirty="0"/>
              <a:t> sensor </a:t>
            </a:r>
            <a:r>
              <a:rPr dirty="0" err="1"/>
              <a:t>optik</a:t>
            </a:r>
            <a:r>
              <a:rPr dirty="0"/>
              <a:t> </a:t>
            </a:r>
            <a:r>
              <a:rPr dirty="0" err="1"/>
              <a:t>standar</a:t>
            </a:r>
            <a:r>
              <a:rPr dirty="0"/>
              <a:t> </a:t>
            </a:r>
            <a:r>
              <a:rPr dirty="0" err="1"/>
              <a:t>mengenali</a:t>
            </a:r>
            <a:r>
              <a:rPr dirty="0"/>
              <a:t> </a:t>
            </a:r>
            <a:r>
              <a:rPr dirty="0" err="1"/>
              <a:t>objek</a:t>
            </a:r>
            <a:r>
              <a:rPr dirty="0"/>
              <a:t> </a:t>
            </a:r>
            <a:r>
              <a:rPr dirty="0" err="1"/>
              <a:t>bersiluet</a:t>
            </a:r>
            <a:r>
              <a:rPr dirty="0"/>
              <a:t> </a:t>
            </a:r>
            <a:r>
              <a:rPr dirty="0" err="1"/>
              <a:t>gelap</a:t>
            </a:r>
            <a:r>
              <a:rPr dirty="0"/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71800"/>
            <a:ext cx="3429000" cy="3200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3172968"/>
            <a:ext cx="2971800" cy="2798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FBBF24"/>
                </a:solidFill>
                <a:latin typeface="Segoe UI"/>
              </a:defRPr>
            </a:pPr>
            <a:r>
              <a:rPr dirty="0"/>
              <a:t>FAKTOR KESELAMATAN JIWA</a:t>
            </a:r>
          </a:p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rPr dirty="0"/>
              <a:t>Vulnerable Road Users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rPr dirty="0"/>
              <a:t>•  </a:t>
            </a:r>
            <a:r>
              <a:rPr dirty="0" err="1"/>
              <a:t>Pejalan</a:t>
            </a:r>
            <a:r>
              <a:rPr dirty="0"/>
              <a:t> kaki </a:t>
            </a:r>
            <a:r>
              <a:rPr dirty="0" err="1"/>
              <a:t>tidak</a:t>
            </a:r>
            <a:r>
              <a:rPr dirty="0"/>
              <a:t> </a:t>
            </a:r>
            <a:r>
              <a:rPr dirty="0" err="1"/>
              <a:t>memiliki</a:t>
            </a:r>
            <a:r>
              <a:rPr dirty="0"/>
              <a:t> </a:t>
            </a:r>
            <a:r>
              <a:rPr dirty="0" err="1"/>
              <a:t>proteksi</a:t>
            </a:r>
            <a:r>
              <a:rPr dirty="0"/>
              <a:t> </a:t>
            </a:r>
            <a:r>
              <a:rPr dirty="0" err="1"/>
              <a:t>fisik</a:t>
            </a:r>
            <a:r>
              <a:rPr dirty="0"/>
              <a:t> </a:t>
            </a:r>
            <a:r>
              <a:rPr dirty="0" err="1"/>
              <a:t>layaknya</a:t>
            </a:r>
            <a:r>
              <a:rPr dirty="0"/>
              <a:t> </a:t>
            </a:r>
            <a:r>
              <a:rPr dirty="0" err="1"/>
              <a:t>penumpang</a:t>
            </a:r>
            <a:r>
              <a:rPr dirty="0"/>
              <a:t> </a:t>
            </a:r>
            <a:r>
              <a:rPr dirty="0" err="1"/>
              <a:t>kendaraan</a:t>
            </a:r>
            <a:r>
              <a:rPr dirty="0"/>
              <a:t> </a:t>
            </a:r>
            <a:r>
              <a:rPr dirty="0" err="1"/>
              <a:t>bermotor</a:t>
            </a:r>
            <a:r>
              <a:rPr dirty="0"/>
              <a:t>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rPr dirty="0"/>
              <a:t>•  Di </a:t>
            </a:r>
            <a:r>
              <a:rPr dirty="0" err="1"/>
              <a:t>malam</a:t>
            </a:r>
            <a:r>
              <a:rPr dirty="0"/>
              <a:t> </a:t>
            </a:r>
            <a:r>
              <a:rPr dirty="0" err="1"/>
              <a:t>hari</a:t>
            </a:r>
            <a:r>
              <a:rPr dirty="0"/>
              <a:t>, </a:t>
            </a:r>
            <a:r>
              <a:rPr dirty="0" err="1"/>
              <a:t>pakaian</a:t>
            </a:r>
            <a:r>
              <a:rPr dirty="0"/>
              <a:t> </a:t>
            </a:r>
            <a:r>
              <a:rPr dirty="0" err="1"/>
              <a:t>gelap</a:t>
            </a:r>
            <a:r>
              <a:rPr dirty="0"/>
              <a:t> dan </a:t>
            </a:r>
            <a:r>
              <a:rPr dirty="0" err="1"/>
              <a:t>pencahayaan</a:t>
            </a:r>
            <a:r>
              <a:rPr dirty="0"/>
              <a:t> </a:t>
            </a:r>
            <a:r>
              <a:rPr dirty="0" err="1"/>
              <a:t>lampu</a:t>
            </a:r>
            <a:r>
              <a:rPr dirty="0"/>
              <a:t> </a:t>
            </a:r>
            <a:r>
              <a:rPr dirty="0" err="1"/>
              <a:t>jalan</a:t>
            </a:r>
            <a:r>
              <a:rPr dirty="0"/>
              <a:t> minim </a:t>
            </a:r>
            <a:r>
              <a:rPr dirty="0" err="1"/>
              <a:t>membuat</a:t>
            </a:r>
            <a:r>
              <a:rPr dirty="0"/>
              <a:t> </a:t>
            </a:r>
            <a:r>
              <a:rPr dirty="0" err="1"/>
              <a:t>pejalan</a:t>
            </a:r>
            <a:r>
              <a:rPr dirty="0"/>
              <a:t> kaki </a:t>
            </a:r>
            <a:r>
              <a:rPr dirty="0" err="1"/>
              <a:t>hampir</a:t>
            </a:r>
            <a:r>
              <a:rPr dirty="0"/>
              <a:t> </a:t>
            </a:r>
            <a:r>
              <a:rPr dirty="0" err="1"/>
              <a:t>tak</a:t>
            </a:r>
            <a:r>
              <a:rPr dirty="0"/>
              <a:t> </a:t>
            </a:r>
            <a:r>
              <a:rPr dirty="0" err="1"/>
              <a:t>terlihat</a:t>
            </a:r>
            <a:r>
              <a:rPr dirty="0"/>
              <a:t>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rPr dirty="0"/>
              <a:t>•  </a:t>
            </a:r>
            <a:r>
              <a:rPr dirty="0" err="1"/>
              <a:t>Sistem</a:t>
            </a:r>
            <a:r>
              <a:rPr dirty="0"/>
              <a:t> </a:t>
            </a:r>
            <a:r>
              <a:rPr dirty="0" err="1"/>
              <a:t>deteksi</a:t>
            </a:r>
            <a:r>
              <a:rPr dirty="0"/>
              <a:t> </a:t>
            </a:r>
            <a:r>
              <a:rPr dirty="0" err="1"/>
              <a:t>dini</a:t>
            </a:r>
            <a:r>
              <a:rPr dirty="0"/>
              <a:t> </a:t>
            </a:r>
            <a:r>
              <a:rPr dirty="0" err="1"/>
              <a:t>adalah</a:t>
            </a:r>
            <a:r>
              <a:rPr dirty="0"/>
              <a:t> </a:t>
            </a:r>
            <a:r>
              <a:rPr dirty="0" err="1"/>
              <a:t>satu-satunya</a:t>
            </a:r>
            <a:r>
              <a:rPr dirty="0"/>
              <a:t> </a:t>
            </a:r>
            <a:r>
              <a:rPr dirty="0" err="1"/>
              <a:t>pertahanan</a:t>
            </a:r>
            <a:r>
              <a:rPr dirty="0"/>
              <a:t> </a:t>
            </a:r>
            <a:r>
              <a:rPr dirty="0" err="1"/>
              <a:t>pencegah</a:t>
            </a:r>
            <a:r>
              <a:rPr dirty="0"/>
              <a:t> </a:t>
            </a:r>
            <a:r>
              <a:rPr dirty="0" err="1"/>
              <a:t>tabrakan</a:t>
            </a:r>
            <a:r>
              <a:rPr dirty="0"/>
              <a:t> di </a:t>
            </a:r>
            <a:r>
              <a:rPr dirty="0" err="1"/>
              <a:t>sistem</a:t>
            </a:r>
            <a:r>
              <a:rPr dirty="0"/>
              <a:t> ADAS modern.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9976" y="2971800"/>
            <a:ext cx="3429000" cy="3200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08576" y="3172968"/>
            <a:ext cx="2971800" cy="214674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38BDF8"/>
                </a:solidFill>
                <a:latin typeface="Segoe UI"/>
              </a:defRPr>
            </a:pPr>
            <a:r>
              <a:rPr dirty="0"/>
              <a:t>TANTANGAN SENSORIK</a:t>
            </a:r>
          </a:p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rPr dirty="0" err="1"/>
              <a:t>Keterbatasan</a:t>
            </a:r>
            <a:r>
              <a:rPr dirty="0"/>
              <a:t> Kamera Optik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rPr dirty="0"/>
              <a:t>•  Kamera RGB </a:t>
            </a:r>
            <a:r>
              <a:rPr dirty="0" err="1"/>
              <a:t>standar</a:t>
            </a:r>
            <a:r>
              <a:rPr dirty="0"/>
              <a:t> </a:t>
            </a:r>
            <a:r>
              <a:rPr dirty="0" err="1"/>
              <a:t>mengalami</a:t>
            </a:r>
            <a:r>
              <a:rPr dirty="0"/>
              <a:t> </a:t>
            </a:r>
            <a:r>
              <a:rPr dirty="0" err="1"/>
              <a:t>penurunan</a:t>
            </a:r>
            <a:r>
              <a:rPr dirty="0"/>
              <a:t> SNR (Signal-to-Noise Ratio) </a:t>
            </a:r>
            <a:r>
              <a:rPr dirty="0" err="1"/>
              <a:t>ekstrem</a:t>
            </a:r>
            <a:r>
              <a:rPr dirty="0"/>
              <a:t> pada </a:t>
            </a:r>
            <a:r>
              <a:rPr dirty="0" err="1"/>
              <a:t>intensitas</a:t>
            </a:r>
            <a:r>
              <a:rPr dirty="0"/>
              <a:t> </a:t>
            </a:r>
            <a:r>
              <a:rPr dirty="0" err="1"/>
              <a:t>foton</a:t>
            </a:r>
            <a:r>
              <a:rPr dirty="0"/>
              <a:t> </a:t>
            </a:r>
            <a:r>
              <a:rPr dirty="0" err="1"/>
              <a:t>rendah</a:t>
            </a:r>
            <a:r>
              <a:rPr dirty="0"/>
              <a:t>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rPr dirty="0"/>
              <a:t>•  Solusi sensor </a:t>
            </a:r>
            <a:r>
              <a:rPr dirty="0" err="1"/>
              <a:t>aktif</a:t>
            </a:r>
            <a:r>
              <a:rPr dirty="0"/>
              <a:t> </a:t>
            </a:r>
            <a:r>
              <a:rPr dirty="0" err="1"/>
              <a:t>seperti</a:t>
            </a:r>
            <a:r>
              <a:rPr dirty="0"/>
              <a:t> LiDAR </a:t>
            </a:r>
            <a:r>
              <a:rPr dirty="0" err="1"/>
              <a:t>atau</a:t>
            </a:r>
            <a:r>
              <a:rPr dirty="0"/>
              <a:t> Thermal IR </a:t>
            </a:r>
            <a:r>
              <a:rPr dirty="0" err="1"/>
              <a:t>berbiaya</a:t>
            </a:r>
            <a:r>
              <a:rPr dirty="0"/>
              <a:t> sangat </a:t>
            </a:r>
            <a:r>
              <a:rPr dirty="0" err="1"/>
              <a:t>tinggi</a:t>
            </a:r>
            <a:r>
              <a:rPr dirty="0"/>
              <a:t> </a:t>
            </a:r>
            <a:r>
              <a:rPr dirty="0" err="1"/>
              <a:t>untuk</a:t>
            </a:r>
            <a:r>
              <a:rPr dirty="0"/>
              <a:t> </a:t>
            </a:r>
            <a:r>
              <a:rPr dirty="0" err="1"/>
              <a:t>kendaraan</a:t>
            </a:r>
            <a:r>
              <a:rPr dirty="0"/>
              <a:t> </a:t>
            </a:r>
            <a:r>
              <a:rPr dirty="0" err="1"/>
              <a:t>massal</a:t>
            </a:r>
            <a:r>
              <a:rPr dirty="0"/>
              <a:t>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rPr dirty="0"/>
              <a:t>•  </a:t>
            </a:r>
            <a:r>
              <a:rPr dirty="0" err="1"/>
              <a:t>Diperlukan</a:t>
            </a:r>
            <a:r>
              <a:rPr dirty="0"/>
              <a:t> </a:t>
            </a:r>
            <a:r>
              <a:rPr dirty="0" err="1"/>
              <a:t>solusi</a:t>
            </a:r>
            <a:r>
              <a:rPr dirty="0"/>
              <a:t> </a:t>
            </a:r>
            <a:r>
              <a:rPr dirty="0" err="1"/>
              <a:t>berbasis</a:t>
            </a:r>
            <a:r>
              <a:rPr dirty="0"/>
              <a:t> software </a:t>
            </a:r>
            <a:r>
              <a:rPr dirty="0" err="1"/>
              <a:t>visi</a:t>
            </a:r>
            <a:r>
              <a:rPr dirty="0"/>
              <a:t> </a:t>
            </a:r>
            <a:r>
              <a:rPr dirty="0" err="1"/>
              <a:t>komputer</a:t>
            </a:r>
            <a:r>
              <a:rPr dirty="0"/>
              <a:t> </a:t>
            </a:r>
            <a:r>
              <a:rPr dirty="0" err="1"/>
              <a:t>cerdas</a:t>
            </a:r>
            <a:r>
              <a:rPr dirty="0"/>
              <a:t> pada </a:t>
            </a:r>
            <a:r>
              <a:rPr dirty="0" err="1"/>
              <a:t>kamera</a:t>
            </a:r>
            <a:r>
              <a:rPr dirty="0"/>
              <a:t> RGB </a:t>
            </a:r>
            <a:r>
              <a:rPr dirty="0" err="1"/>
              <a:t>monokuler</a:t>
            </a:r>
            <a:r>
              <a:rPr dirty="0"/>
              <a:t> yang </a:t>
            </a:r>
            <a:r>
              <a:rPr dirty="0" err="1"/>
              <a:t>terjangkau</a:t>
            </a:r>
            <a:r>
              <a:rPr dirty="0"/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28432" y="2971800"/>
            <a:ext cx="3429000" cy="3200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57032" y="3172968"/>
            <a:ext cx="2971800" cy="2798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34D399"/>
                </a:solidFill>
                <a:latin typeface="Segoe UI"/>
              </a:defRPr>
            </a:pPr>
            <a:r>
              <a:rPr dirty="0"/>
              <a:t>KEBUTUHAN OPERASIONAL</a:t>
            </a:r>
          </a:p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rPr dirty="0" err="1"/>
              <a:t>Tuntutan</a:t>
            </a:r>
            <a:r>
              <a:rPr dirty="0"/>
              <a:t> Real-Time Edge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rPr dirty="0"/>
              <a:t>•  </a:t>
            </a:r>
            <a:r>
              <a:rPr dirty="0" err="1"/>
              <a:t>Kendaraan</a:t>
            </a:r>
            <a:r>
              <a:rPr dirty="0"/>
              <a:t> </a:t>
            </a:r>
            <a:r>
              <a:rPr dirty="0" err="1"/>
              <a:t>melaju</a:t>
            </a:r>
            <a:r>
              <a:rPr dirty="0"/>
              <a:t> 40-60 km/jam </a:t>
            </a:r>
            <a:r>
              <a:rPr dirty="0" err="1"/>
              <a:t>membutuhkan</a:t>
            </a:r>
            <a:r>
              <a:rPr dirty="0"/>
              <a:t> </a:t>
            </a:r>
            <a:r>
              <a:rPr dirty="0" err="1"/>
              <a:t>respon</a:t>
            </a:r>
            <a:r>
              <a:rPr dirty="0"/>
              <a:t> </a:t>
            </a:r>
            <a:r>
              <a:rPr dirty="0" err="1"/>
              <a:t>deteksi</a:t>
            </a:r>
            <a:r>
              <a:rPr dirty="0"/>
              <a:t> </a:t>
            </a:r>
            <a:r>
              <a:rPr dirty="0" err="1"/>
              <a:t>dalam</a:t>
            </a:r>
            <a:r>
              <a:rPr dirty="0"/>
              <a:t> </a:t>
            </a:r>
            <a:r>
              <a:rPr dirty="0" err="1"/>
              <a:t>hitungan</a:t>
            </a:r>
            <a:r>
              <a:rPr dirty="0"/>
              <a:t> </a:t>
            </a:r>
            <a:r>
              <a:rPr dirty="0" err="1"/>
              <a:t>milidetik</a:t>
            </a:r>
            <a:r>
              <a:rPr dirty="0"/>
              <a:t> (&lt; 50 </a:t>
            </a:r>
            <a:r>
              <a:rPr dirty="0" err="1"/>
              <a:t>ms</a:t>
            </a:r>
            <a:r>
              <a:rPr dirty="0"/>
              <a:t>).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rPr dirty="0"/>
              <a:t>•  </a:t>
            </a:r>
            <a:r>
              <a:rPr dirty="0" err="1"/>
              <a:t>Sistem</a:t>
            </a:r>
            <a:r>
              <a:rPr dirty="0"/>
              <a:t> </a:t>
            </a:r>
            <a:r>
              <a:rPr dirty="0" err="1"/>
              <a:t>harus</a:t>
            </a:r>
            <a:r>
              <a:rPr dirty="0"/>
              <a:t> </a:t>
            </a:r>
            <a:r>
              <a:rPr dirty="0" err="1"/>
              <a:t>mampu</a:t>
            </a:r>
            <a:r>
              <a:rPr dirty="0"/>
              <a:t> </a:t>
            </a:r>
            <a:r>
              <a:rPr dirty="0" err="1"/>
              <a:t>berjalan</a:t>
            </a:r>
            <a:r>
              <a:rPr dirty="0"/>
              <a:t> </a:t>
            </a:r>
            <a:r>
              <a:rPr dirty="0" err="1"/>
              <a:t>lancar</a:t>
            </a:r>
            <a:r>
              <a:rPr dirty="0"/>
              <a:t> pada </a:t>
            </a:r>
            <a:r>
              <a:rPr dirty="0" err="1"/>
              <a:t>perangkat</a:t>
            </a:r>
            <a:r>
              <a:rPr dirty="0"/>
              <a:t> </a:t>
            </a:r>
            <a:r>
              <a:rPr dirty="0" err="1"/>
              <a:t>komputasi</a:t>
            </a:r>
            <a:r>
              <a:rPr dirty="0"/>
              <a:t> onboard CPU </a:t>
            </a:r>
            <a:r>
              <a:rPr dirty="0" err="1"/>
              <a:t>standar</a:t>
            </a:r>
            <a:r>
              <a:rPr dirty="0"/>
              <a:t> </a:t>
            </a:r>
            <a:r>
              <a:rPr dirty="0" err="1"/>
              <a:t>tanpa</a:t>
            </a:r>
            <a:r>
              <a:rPr dirty="0"/>
              <a:t> </a:t>
            </a:r>
            <a:r>
              <a:rPr dirty="0" err="1"/>
              <a:t>latensi</a:t>
            </a:r>
            <a:r>
              <a:rPr dirty="0"/>
              <a:t> </a:t>
            </a:r>
            <a:r>
              <a:rPr dirty="0" err="1"/>
              <a:t>tinggi</a:t>
            </a:r>
            <a:r>
              <a:rPr dirty="0"/>
              <a:t>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rPr dirty="0"/>
              <a:t>•  </a:t>
            </a:r>
            <a:r>
              <a:rPr dirty="0" err="1"/>
              <a:t>Akurasi</a:t>
            </a:r>
            <a:r>
              <a:rPr dirty="0"/>
              <a:t> </a:t>
            </a:r>
            <a:r>
              <a:rPr dirty="0" err="1"/>
              <a:t>tinggi</a:t>
            </a:r>
            <a:r>
              <a:rPr dirty="0"/>
              <a:t> </a:t>
            </a:r>
            <a:r>
              <a:rPr dirty="0" err="1"/>
              <a:t>tidak</a:t>
            </a:r>
            <a:r>
              <a:rPr dirty="0"/>
              <a:t> </a:t>
            </a:r>
            <a:r>
              <a:rPr dirty="0" err="1"/>
              <a:t>ada</a:t>
            </a:r>
            <a:r>
              <a:rPr dirty="0"/>
              <a:t> </a:t>
            </a:r>
            <a:r>
              <a:rPr dirty="0" err="1"/>
              <a:t>artinya</a:t>
            </a:r>
            <a:r>
              <a:rPr dirty="0"/>
              <a:t> </a:t>
            </a:r>
            <a:r>
              <a:rPr dirty="0" err="1"/>
              <a:t>jika</a:t>
            </a:r>
            <a:r>
              <a:rPr dirty="0"/>
              <a:t> </a:t>
            </a:r>
            <a:r>
              <a:rPr dirty="0" err="1"/>
              <a:t>komputasi</a:t>
            </a:r>
            <a:r>
              <a:rPr dirty="0"/>
              <a:t> </a:t>
            </a:r>
            <a:r>
              <a:rPr dirty="0" err="1"/>
              <a:t>lambat</a:t>
            </a:r>
            <a:r>
              <a:rPr dirty="0"/>
              <a:t> dan </a:t>
            </a:r>
            <a:r>
              <a:rPr dirty="0" err="1"/>
              <a:t>tidak</a:t>
            </a:r>
            <a:r>
              <a:rPr dirty="0"/>
              <a:t> </a:t>
            </a:r>
            <a:r>
              <a:rPr dirty="0" err="1"/>
              <a:t>responsif</a:t>
            </a:r>
            <a:r>
              <a:rPr dirty="0"/>
              <a:t> di </a:t>
            </a:r>
            <a:r>
              <a:rPr dirty="0" err="1"/>
              <a:t>jalan</a:t>
            </a:r>
            <a:r>
              <a:rPr dirty="0"/>
              <a:t> </a:t>
            </a:r>
            <a:r>
              <a:rPr dirty="0" err="1"/>
              <a:t>raya</a:t>
            </a:r>
            <a:r>
              <a:rPr dirty="0"/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Sidang Proposal UTS Visi Komputer — Kelompok 9 (Deteksi Pedestrian Low-Light)  |  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02. PERMASALAHAN &amp; ANALISIS KESENJANGAN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3 Hambatan Utama &amp; Kesenjangan Solusi yang 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98448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Mengapa solusi visi komputer standar saat ini gagal dioperasikan pada kondisi malam hari?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342900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984248"/>
            <a:ext cx="2971800" cy="17922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FB7185"/>
                </a:solidFill>
                <a:latin typeface="Segoe UI"/>
              </a:defRPr>
            </a:pPr>
            <a:r>
              <a:t>PROBLEM OPTIK</a:t>
            </a:r>
          </a:p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1. Kontras Ekstrem &amp; Siluet Gelap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Intensitas piksel tubuh pejalan kaki sangat dekat dengan nilai piksel aspal dan latar malam.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Fitur tekstur tepi (edges) dan gradien bentuk tubuh hilang tertelan kegelapan.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Menghasilkan False Negative fatal (objek terlewatkan).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9976" y="1783080"/>
            <a:ext cx="342900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08576" y="1984248"/>
            <a:ext cx="2971800" cy="17922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FBBF24"/>
                </a:solidFill>
                <a:latin typeface="Segoe UI"/>
              </a:defRPr>
            </a:pPr>
            <a:r>
              <a:t>PROBLEM LINGKUNGAN</a:t>
            </a:r>
          </a:p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2. Derau Sensor &amp; Silau Lampu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Kenaikan gain ISO kamera memunculkan grain noise yang mengaburkan kontur objek.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Lampu sorot mobil lawan arah (headlight glare) memicu saturasi piksel over-exposure.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Rentang dinamis menjadi sangat liar dan tak teratur.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28432" y="1783080"/>
            <a:ext cx="342900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57032" y="1984248"/>
            <a:ext cx="2971800" cy="17922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818CF8"/>
                </a:solidFill>
                <a:latin typeface="Segoe UI"/>
              </a:defRPr>
            </a:pPr>
            <a:r>
              <a:t>PROBLEM MODEL</a:t>
            </a:r>
          </a:p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3. Bias Domain Dataset Standar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Model detektor populer (YOLO pre-trained COCO) dilatih 90%+ pada foto siang hari.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Fitur bobot neural network bias pada warna dan pencahayaan terang.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Akurasi drop drastis ketika diuji langsung di domain malam.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60520"/>
            <a:ext cx="10728655" cy="2011680"/>
          </a:xfrm>
          <a:prstGeom prst="roundRect">
            <a:avLst/>
          </a:prstGeom>
          <a:solidFill>
            <a:srgbClr val="27354C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4297680"/>
            <a:ext cx="1024128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38BDF8"/>
                </a:solidFill>
                <a:latin typeface="Segoe UI"/>
              </a:defRPr>
            </a:pPr>
            <a:r>
              <a:t>ANALISIS KESENJANGAN: MENGAPA PENDEKATAN LAIN BELUM TEPAT GUNA?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✖ Model Restorasi Deep Generatif (LLNet / EnlightenGAN): Menghasilkan gambar indah tetapi komputasi sangat berat (&lt; 5 FPS) dan boros VRAM GPU, sehingga mustahil diterapkan di edge device kendaraan.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✖ Filter Histogram Global Konvensional (Global HE): Menaikkan seluruh kecerahan secara membabi-buta, mengakibatkan silau lampu kendaraan makin over-saturated dan noise langit malam makin parah.</a:t>
            </a:r>
          </a:p>
          <a:p>
            <a:pPr>
              <a:defRPr sz="1100" b="1">
                <a:solidFill>
                  <a:srgbClr val="34D399"/>
                </a:solidFill>
                <a:latin typeface="Segoe UI"/>
              </a:defRPr>
            </a:pPr>
            <a:r>
              <a:t>✔ Solusi Kami: Prapemrosesan adaptif lokal berbobot ringan (CLAHE CIE Lab + Gamma Correction) dipadukan dengan arsitektur YOLOv8-Nano yang ultra-efisien.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Sidang Proposal UTS Visi Komputer — Kelompok 9 (Deteksi Pedestrian Low-Light)  |  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03. SOLUSI YANG DIUSULKAN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Pipeline Cerdas: Adaptive Enhancement + Lightweight YOLOv8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98448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Kombinasi efisien antara peningkatan visibilitas lokal dan arsitektur deteksi objek generasi terbaru.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3429000" cy="3291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984248"/>
            <a:ext cx="2971800" cy="2889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38BDF8"/>
                </a:solidFill>
                <a:latin typeface="Segoe UI"/>
              </a:defRPr>
            </a:pPr>
            <a:r>
              <a:t>STEP 1 — INPUT STREAM</a:t>
            </a:r>
          </a:p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Tahap 1: Input &amp; Normalisasi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Menerima frame video atau citra jalan raya beresolusi 640x640 piksel.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Mengonversi ruang warna citra dari RGB ke CIE L*a*b* untuk memisahkan kanal luminansi (L) dari kanal warna (a, b).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Mencegah pergeseran rona warna (color distortion) saat kontras dinaikkan.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Siap diproses secara frame-by-frame pada stream kamera.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9976" y="1783080"/>
            <a:ext cx="3429000" cy="3291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08576" y="1984248"/>
            <a:ext cx="2971800" cy="2889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FBBF24"/>
                </a:solidFill>
                <a:latin typeface="Segoe UI"/>
              </a:defRPr>
            </a:pPr>
            <a:r>
              <a:t>STEP 2 — ADAPTIVE PREPROCESSING</a:t>
            </a:r>
          </a:p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Tahap 2: Prapemrosesan Adaptif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CLAHE (L-channel): Meningkatkan kontras lokal pada tile 8x8 dengan pembatas clip limit = 2.0 untuk meredam amplifikasi noise.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Gamma Correction (γ = 0.6): Meregangkan kurva pencahayaan mid-tone tanpa membuat area lampu sorot menjadi jenuh.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Hasil: Siluet pejalan kaki muncul jelas tanpa menambah beban inferensi deep learning yang berat.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28432" y="1783080"/>
            <a:ext cx="3429000" cy="3291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57032" y="1984248"/>
            <a:ext cx="2971800" cy="2889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34D399"/>
                </a:solidFill>
                <a:latin typeface="Segoe UI"/>
              </a:defRPr>
            </a:pPr>
            <a:r>
              <a:t>STEP 3 — OBJECT DETECTION</a:t>
            </a:r>
          </a:p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Tahap 3: Deteksi YOLOv8-Nano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Arsitektur Ultra-Lightweight: ~3,2 juta parameter, sangat ideal untuk komputasi CPU laptop.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Head Anchor-Free: Langsung memprediksi pusat objek pejalan kaki dengan rasio aspek tubuh yang beragam.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Modul C2f: Menggabungkan fitur spasial resolusi tinggi dengan konteks semantik lalu lintas.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Target Throughput: Berjalan mulus pada ≥ 20–25 FPS.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257800"/>
            <a:ext cx="2514600" cy="960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5367528"/>
            <a:ext cx="2240280" cy="740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1">
                <a:solidFill>
                  <a:srgbClr val="38BDF8"/>
                </a:solidFill>
                <a:latin typeface="Segoe UI"/>
              </a:defRPr>
            </a:pPr>
            <a:r>
              <a:t>~3.2 Juta</a:t>
            </a:r>
          </a:p>
          <a:p>
            <a:pPr algn="ctr">
              <a:defRPr sz="900">
                <a:solidFill>
                  <a:srgbClr val="94A3B8"/>
                </a:solidFill>
                <a:latin typeface="Segoe UI"/>
              </a:defRPr>
            </a:pPr>
            <a:r>
              <a:t>Parameter Model (Ringan)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5257800"/>
            <a:ext cx="2514600" cy="960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11879" y="5367528"/>
            <a:ext cx="2240280" cy="740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1">
                <a:solidFill>
                  <a:srgbClr val="34D399"/>
                </a:solidFill>
                <a:latin typeface="Segoe UI"/>
              </a:defRPr>
            </a:pPr>
            <a:r>
              <a:t>≥ 20 FPS</a:t>
            </a:r>
          </a:p>
          <a:p>
            <a:pPr algn="ctr">
              <a:defRPr sz="900">
                <a:solidFill>
                  <a:srgbClr val="94A3B8"/>
                </a:solidFill>
                <a:latin typeface="Segoe UI"/>
              </a:defRPr>
            </a:pPr>
            <a:r>
              <a:t>Kecepatan Inferensi CPU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5257800"/>
            <a:ext cx="2514600" cy="960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55080" y="5367528"/>
            <a:ext cx="2240280" cy="740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1">
                <a:solidFill>
                  <a:srgbClr val="FBBF24"/>
                </a:solidFill>
                <a:latin typeface="Segoe UI"/>
              </a:defRPr>
            </a:pPr>
            <a:r>
              <a:t>CIE L*a*b*</a:t>
            </a:r>
          </a:p>
          <a:p>
            <a:pPr algn="ctr">
              <a:defRPr sz="900">
                <a:solidFill>
                  <a:srgbClr val="94A3B8"/>
                </a:solidFill>
                <a:latin typeface="Segoe UI"/>
              </a:defRPr>
            </a:pPr>
            <a:r>
              <a:t>Isolasi Luminansi Warna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5257800"/>
            <a:ext cx="2499055" cy="960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098280" y="5367528"/>
            <a:ext cx="2224735" cy="740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  <a:latin typeface="Segoe UI"/>
              </a:defRPr>
            </a:pPr>
            <a:r>
              <a:t>Zero Leakage</a:t>
            </a:r>
          </a:p>
          <a:p>
            <a:pPr algn="ctr">
              <a:defRPr sz="900">
                <a:solidFill>
                  <a:srgbClr val="94A3B8"/>
                </a:solidFill>
                <a:latin typeface="Segoe UI"/>
              </a:defRPr>
            </a:pPr>
            <a:r>
              <a:t>Protokol Validasi Ketat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Sidang Proposal UTS Visi Komputer — Kelompok 9 (Deteksi Pedestrian Low-Light)  |  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04. FILOSOFI METRIK &amp; PENILAIAN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Mengapa Proyek Ini Memprioritaskan Metrik 'Recall'?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98448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Dalam aplikasi keselamatan ADAS, biaya kegagalan deteksi pejalan kaki memiliki konsekuensi fatal.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52120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984248"/>
            <a:ext cx="4754880" cy="39867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FB7185"/>
                </a:solidFill>
                <a:latin typeface="Segoe UI"/>
              </a:defRPr>
            </a:pPr>
            <a:r>
              <a:t>PRINSIP SAFETY-FIRST</a:t>
            </a:r>
          </a:p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Asimetri Kesalahan: False Negative vs False Positive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False Negative (FN) — Fatal Risk: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  • Pejalan kaki ada di depan mobil, tetapi model GAGAL mendeteksi.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  • Kendaraan tidak melakukan pengereman otomatis.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  • Dampak: Tabrakan fatal dan ancaman kehilangan nyawa manusia.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False Positive (FP) — Low Risk: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  • Bayangan tiang atau semak salah dikira pejalan kaki.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  • Dampak: Sistem memberikan peringatan dini / pengereman defensif.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  • Pengemudi tetap aman tanpa ada bahaya fisik.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Kesimpulan: Recall pejalan kaki wajib dimaksimalkan mendekati 100%!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1783080"/>
            <a:ext cx="52120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76695" y="1984248"/>
            <a:ext cx="4754880" cy="39867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FBBF24"/>
                </a:solidFill>
                <a:latin typeface="Segoe UI"/>
              </a:defRPr>
            </a:pPr>
            <a:r>
              <a:t>VALIDASI METRIK AKADEMIK</a:t>
            </a:r>
          </a:p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Jebakan Class Imbalance (7.58 : 1)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Hasil Audit Dataset Kami: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  • Objek Kendaraan (Vehicle): 6.871 box (88,4%)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  • Objek Pejalan Kaki (Person): 906 box (11,6%)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Bahaya Metrik Agregat mAP / Akurasi Biasa: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  • Jika model hanya pintar mendeteksi mobil tetapi buta pejalan kaki, nilai mAP keseluruhan masih bisa terlihat 'tinggi' (menipu).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  • Oleh karena itu, dewan penguji dapat melihat ketelitian kami: kami membedah metrik per kelas dan mematok target perbaikan khusus pada Pejalan Kaki.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Target Kami: Peningkatan Recall Pejalan Kaki &gt; 10% dibanding baseline.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Sidang Proposal UTS Visi Komputer — Kelompok 9 (Deteksi Pedestrian Low-Light)  |  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05. KESIAPAN DATA &amp; PROGRESS AWAL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Dataset Terverifikasi Penuh &amp; Bebas Data Leakage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98448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Kelompok 9 telah menuntaskan audit komprehensif pada dataset Roboflow Low-Light v2 (Checkpoint CP03).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548640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984248"/>
            <a:ext cx="5029200" cy="39867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38BDF8"/>
                </a:solidFill>
                <a:latin typeface="Segoe UI"/>
              </a:defRPr>
            </a:pPr>
            <a:r>
              <a:t>DATASET ROBOFLOW LOW-LIGHT V2 (CC BY 4.0)</a:t>
            </a:r>
          </a:p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Distribusi Data Hasil Audit (src/audit_dataset.py)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Total Volume: 2.400 citra dengan 7.777 bounding box anotasi.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Train Split (2.100 citra): 6.018 Vehicle | 798 Person (Ratio 7.54:1)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Valid Split (200 citra): 581 Vehicle | 69 Person (Ratio 8.42:1)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Test Split (100 citra): 272 Vehicle | 39 Person (Ratio 6.97:1)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Integritas Anotasi 100% Lolos Uji: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  • Seluruh gambar memiliki pasangan file label .txt yang valid.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  • Tidak ditemukan anotasi korup, koordinat NaN, atau out-of-bound.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Protokol Pencegahan Data Leakage: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  • Split folder terisolasi ketat di tingkat file system.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  • Augmentasi &amp; CLAHE HANYA diaplikasikan pada data training.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  • Data uji (Test set) dijaga murni dan tidak pernah terlihat model.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783080"/>
            <a:ext cx="4967935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ample_annot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920240"/>
            <a:ext cx="4693615" cy="35204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629400" y="5532120"/>
            <a:ext cx="469361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>
                <a:solidFill>
                  <a:srgbClr val="34D399"/>
                </a:solidFill>
                <a:latin typeface="Segoe UI"/>
              </a:defRPr>
            </a:pPr>
            <a:r>
              <a:t>Gambar 1: Sampel Visual Audit Bounding Box (Person: Hijau, Vehicle: Biru)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Sidang Proposal UTS Visi Komputer — Kelompok 9 (Deteksi Pedestrian Low-Light)  |  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06. METODOLOGI EKSPERIMEN TERKONTROL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4 Skenario Pengujian Komparatif yang Ketat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98448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Riset dirancang terstruktur secara ilmiah untuk membuktikan kontribusi nyata masing-masing teknik.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5212080" cy="2057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984248"/>
            <a:ext cx="4754880" cy="1655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94A3B8"/>
                </a:solidFill>
                <a:latin typeface="Segoe UI"/>
              </a:defRPr>
            </a:pPr>
            <a:r>
              <a:t>EKSPERIMEN PEMBANDING DASAR</a:t>
            </a:r>
          </a:p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B0: Baseline Zero-Shot (YOLOv8n COCO)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Tujuan: Mengukur performa awal model standar tanpa domain adaptation.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Prapemrosesan: Citra asli apa adanya (raw low-light RGB).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Ekspektasi: Membuktikan hipotesis kegagalan deteksi pejalan kaki siluet gelap.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1783080"/>
            <a:ext cx="5212080" cy="2057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76695" y="1984248"/>
            <a:ext cx="4754880" cy="1655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38BDF8"/>
                </a:solidFill>
                <a:latin typeface="Segoe UI"/>
              </a:defRPr>
            </a:pPr>
            <a:r>
              <a:t>EKSPERIMEN FINE-TUNED STANDARD</a:t>
            </a:r>
          </a:p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Exp-A: Fine-Tuning Domain Adaptif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Tujuan: Mengukur perbaikan hasil transfer learning langsung pada data malam.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Prapemrosesan: Augmentasi geometri standar (tanpa manipulasi luminansi khusus).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Ekspektasi: Peningkatan mAP umum, namun Recall pejalan kaki gelap masih terbatas.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69080"/>
            <a:ext cx="5212080" cy="2057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4270248"/>
            <a:ext cx="4754880" cy="1655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34D399"/>
                </a:solidFill>
                <a:latin typeface="Segoe UI"/>
              </a:defRPr>
            </a:pPr>
            <a:r>
              <a:t>EKSPERIMEN INTI USULAN (PROPOSED)</a:t>
            </a:r>
          </a:p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Exp-B: Fine-Tuned + L-Channel CLAHE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Tujuan: Menguji dampak penajaman kontras lokal pada kanal luminansi CIE L*a*b*.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Konfigurasi: Clip limit = 2.0, grid tile = 8x8 (mencegah over-amplifikasi noise).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Target Utama: Lonjakan Recall Pejalan Kaki &gt; 10% dibanding Exp-A.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4069080"/>
            <a:ext cx="5212080" cy="2057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76695" y="4270248"/>
            <a:ext cx="4754880" cy="1655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FBBF24"/>
                </a:solidFill>
                <a:latin typeface="Segoe UI"/>
              </a:defRPr>
            </a:pPr>
            <a:r>
              <a:t>EKSPERIMEN KOMPARASI PENCERAHAN</a:t>
            </a:r>
          </a:p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Exp-C: Fine-Tuned + Gamma Correction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Tujuan: Menguji dampak penyesuaian non-linear kurva intensitas cahaya (γ = 0.6).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Prapemrosesan: Pengangkatan kecerahan mid-tone tanpa saturasi berlebih.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Analisis: Membandingkan komparasi trade-off ketajaman visual CLAHE vs Gamma.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Sidang Proposal UTS Visi Komputer — Kelompok 9 (Deteksi Pedestrian Low-Light)  |  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07. IMPLEMENTASI &amp; LUARAN SISTEM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Rencana Deployment Nyata &amp; Target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98448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Bukan sekadar model di atas kertas, proyek ini menghasilkan prototype interaktif yang dapat didemonstrasikan langsung.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3429000" cy="3291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984248"/>
            <a:ext cx="2971800" cy="2889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38BDF8"/>
                </a:solidFill>
                <a:latin typeface="Segoe UI"/>
              </a:defRPr>
            </a:pPr>
            <a:r>
              <a:t>INFRASTRUKTUR &amp; ALAT</a:t>
            </a:r>
          </a:p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Lingkungan Komputasi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Training Hardware: NVIDIA Tesla T4 GPU (Google Colab 16GB VRAM) — menjamin training cepat dan stabil (50 epochs).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Inference Target: CPU Laptop Standar (Intel Core i5/i7) — membuktikan efisiensi tanpa butuh GPU mahal.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PyTorch &amp; Ultralytics Framework yang terstandarisasi industri.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9976" y="1783080"/>
            <a:ext cx="3429000" cy="3291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08576" y="1984248"/>
            <a:ext cx="2971800" cy="2889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34D399"/>
                </a:solidFill>
                <a:latin typeface="Segoe UI"/>
              </a:defRPr>
            </a:pPr>
            <a:r>
              <a:t>ANTARMUKA DEMO PENGGUNA</a:t>
            </a:r>
          </a:p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Prototype Aplikasi Interaktif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Pipeline Inferensi OpenCV / Streamlit: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  • Menerima input video berkendara malam atau static image.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  • Visualisasi live split-screen: Sebelum enhancement vs Sesudah CLAHE.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  • Bounding box deteksi real-time dengan confidence score dan indikator FPS live.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28432" y="1783080"/>
            <a:ext cx="3429000" cy="3291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57032" y="1984248"/>
            <a:ext cx="2971800" cy="2889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818CF8"/>
                </a:solidFill>
                <a:latin typeface="Segoe UI"/>
              </a:defRPr>
            </a:pPr>
            <a:r>
              <a:t>DELIVERABLES AKHIR</a:t>
            </a:r>
          </a:p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Luaran Akademik &amp; Kode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Dokumen Teknis Lengkap: Format 2-Kolom IEEE Technical Report standar publikasi.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Repositori GitHub Terstruktur: Skrip training modular, log audit, dan config reproducible.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Rencana Ekspansi UAS: Eksplorasi kuantisasi model INT8 untuk deployment edge mikrokontroler.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257800"/>
            <a:ext cx="3429000" cy="960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5367528"/>
            <a:ext cx="3154680" cy="740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1">
                <a:solidFill>
                  <a:srgbClr val="38BDF8"/>
                </a:solidFill>
                <a:latin typeface="Segoe UI"/>
              </a:defRPr>
            </a:pPr>
            <a:r>
              <a:t>NVIDIA T4</a:t>
            </a:r>
          </a:p>
          <a:p>
            <a:pPr algn="ctr">
              <a:defRPr sz="900">
                <a:solidFill>
                  <a:srgbClr val="94A3B8"/>
                </a:solidFill>
                <a:latin typeface="Segoe UI"/>
              </a:defRPr>
            </a:pPr>
            <a:r>
              <a:t>GPU Cloud Training Ready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9976" y="5257800"/>
            <a:ext cx="3429000" cy="960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17136" y="5367528"/>
            <a:ext cx="3154680" cy="740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1">
                <a:solidFill>
                  <a:srgbClr val="34D399"/>
                </a:solidFill>
                <a:latin typeface="Segoe UI"/>
              </a:defRPr>
            </a:pPr>
            <a:r>
              <a:t>Interactive UI</a:t>
            </a:r>
          </a:p>
          <a:p>
            <a:pPr algn="ctr">
              <a:defRPr sz="900">
                <a:solidFill>
                  <a:srgbClr val="94A3B8"/>
                </a:solidFill>
                <a:latin typeface="Segoe UI"/>
              </a:defRPr>
            </a:pPr>
            <a:r>
              <a:t>Streamlit / OpenCV Demo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8431" y="5257800"/>
            <a:ext cx="3429000" cy="960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65592" y="5367528"/>
            <a:ext cx="3154680" cy="740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1">
                <a:solidFill>
                  <a:srgbClr val="818CF8"/>
                </a:solidFill>
                <a:latin typeface="Segoe UI"/>
              </a:defRPr>
            </a:pPr>
            <a:r>
              <a:t>IEEE Report</a:t>
            </a:r>
          </a:p>
          <a:p>
            <a:pPr algn="ctr">
              <a:defRPr sz="900">
                <a:solidFill>
                  <a:srgbClr val="94A3B8"/>
                </a:solidFill>
                <a:latin typeface="Segoe UI"/>
              </a:defRPr>
            </a:pPr>
            <a:r>
              <a:t>Standardized Documentation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Sidang Proposal UTS Visi Komputer — Kelompok 9 (Deteksi Pedestrian Low-Light)  |  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08. EKSEKUSI &amp; ROADMAP PROYEK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Pembagian Peran yang Jelas &amp; Jadwal Terukur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98448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Kedua anggota memiliki akuntabilitas tugas yang tegas dan saling melengkapi.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521208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984248"/>
            <a:ext cx="4754880" cy="17922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38BDF8"/>
                </a:solidFill>
                <a:latin typeface="Segoe UI"/>
              </a:defRPr>
            </a:pPr>
            <a:r>
              <a:t>PERAN TIM: DATA &amp; PREPROCESSING LEAD</a:t>
            </a:r>
          </a:p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Krisantus Linardi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Lead Data Strategy &amp; Preprocessing Pipeline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Tanggung Jawab Utama: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  • Audit kualitas anotasi dataset dan penyelesaian class imbalance.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  • Implementasi modul penajaman citra adaptif (CLAHE kanal-L &amp; Gamma).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  • Validasi pemisahan dataset dan pencegahan data leakage.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1783080"/>
            <a:ext cx="521208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76695" y="1984248"/>
            <a:ext cx="4754880" cy="17922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34D399"/>
                </a:solidFill>
                <a:latin typeface="Segoe UI"/>
              </a:defRPr>
            </a:pPr>
            <a:r>
              <a:t>PERAN TIM: MODEL &amp; DEPLOYMENT LEAD</a:t>
            </a:r>
          </a:p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Kristofer Leonard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Lead Model Architecture &amp; Inference Deployment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Tanggung Jawab Utama: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  • Setup environment training YOLOv8-Nano pada GPU Google Colab.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  • Eksekusi 4 eksperimen komparatif terkontrol (B0, Exp-A, Exp-B, Exp-C).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  • Benchmarking FPS &amp; pembangunan prototype aplikasi demo inferensi.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60520"/>
            <a:ext cx="10728655" cy="2011680"/>
          </a:xfrm>
          <a:prstGeom prst="roundRect">
            <a:avLst/>
          </a:prstGeom>
          <a:solidFill>
            <a:srgbClr val="27354C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4297680"/>
            <a:ext cx="1024128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FBBF24"/>
                </a:solidFill>
                <a:latin typeface="Segoe UI"/>
              </a:defRPr>
            </a:pPr>
            <a:r>
              <a:t>ROADMAP EKSEKUSI MENUJU SIDANG AKHIR (UAS)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 Fase 1 (UTS — SELESAI):  Audit dataset 2.400 citra, formulasi proposal IEEE, setup repositori, dan verifikasi pipeline.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Fase 2 (Minggu 8–11):  Training 4 varian eksperimen pada Google Colab T4, tuning hyperparameter, dan evaluasi Recall.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Fase 3 (Minggu 12–14):  Analisis kegagalan (failure cases), perbandingan error slices, integrasi prototype demo Streamlit.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Fase 4 (UAS — Final):  Penyusunan laporan akhir komprehensif, video demonstrasi sistem real-time, dan presentasi akhir.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Sidang Proposal UTS Visi Komputer — Kelompok 9 (Deteksi Pedestrian Low-Light)  |  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09. KELAYAKAN &amp; NILAI STRATEGIS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4 Alasan Utama Proyek Ini Sangat Layak Diterima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98448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Ringkasan argumentasi kelayakan akademik, teknis, dan kepraktisan untuk dewan penguji.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5212080" cy="2057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984248"/>
            <a:ext cx="4754880" cy="1655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FB7185"/>
                </a:solidFill>
                <a:latin typeface="Segoe UI"/>
              </a:defRPr>
            </a:pPr>
            <a:r>
              <a:t>PILAR 1 — RELEVANSI &amp; URGENSI</a:t>
            </a:r>
          </a:p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1. Masalah Nyata &amp; Kritis (High Urgency)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Menjawab tantangan riil keselamatan sistem ADAS malam hari.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Berorientasi langsung pada mitigasi kecelakaan fatal pejalan kaki.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Relevansi topik Visi Komputer tingkat lanjut yang berdampak sosial tinggi.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1783080"/>
            <a:ext cx="5212080" cy="2057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76695" y="1984248"/>
            <a:ext cx="4754880" cy="1655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38BDF8"/>
                </a:solidFill>
                <a:latin typeface="Segoe UI"/>
              </a:defRPr>
            </a:pPr>
            <a:r>
              <a:t>PILAR 2 — KEABSAHAN ILMIAH</a:t>
            </a:r>
          </a:p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2. Fondasi Metodologis Kokoh (Sound Methodology)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Dataset 2.400 citra telah diaudit 100% dan bebas dari kebocoran data.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Desain eksperimen komparatif 4 tahap yang objektif dan reproducible.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Fokus evaluasi pada Recall per kelas yang jujur terhadap class imbalance.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69080"/>
            <a:ext cx="5212080" cy="2057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4270248"/>
            <a:ext cx="4754880" cy="1655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34D399"/>
                </a:solidFill>
                <a:latin typeface="Segoe UI"/>
              </a:defRPr>
            </a:pPr>
            <a:r>
              <a:t>PILAR 3 — KELAYAKAN EKSEKUSI</a:t>
            </a:r>
          </a:p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3. Realistis &amp; Bebas Over-Engineering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Model ringan (~3,2M parameter) memungkinkan eksekusi cepat di hardware laptop umum.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Tidak memaksakan arsitektur deep generative yang lambat dan berat.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Infrastruktur pelatihan (Colab T4) dan dataset sudah tersedia penuh.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4069080"/>
            <a:ext cx="5212080" cy="2057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76695" y="4270248"/>
            <a:ext cx="4754880" cy="1655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FBBF24"/>
                </a:solidFill>
                <a:latin typeface="Segoe UI"/>
              </a:defRPr>
            </a:pPr>
            <a:r>
              <a:t>PILAR 4 — KETERCAPAIAN HASIL</a:t>
            </a:r>
          </a:p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4. Luaran Terukur &amp; Siap Diuji (Clear Deliverables)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Target peningkatan Recall &gt; 10% dan target kecepatan ≥ 20–25 FPS.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Menghasilkan prototype aplikasi interaktif yang siap didemokan langsung.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Kesesuaian penuh dengan standar IEEE Technical Report dan rubrik penilaian.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Sidang Proposal UTS Visi Komputer — Kelompok 9 (Deteksi Pedestrian Low-Light)  |  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371600" y="1371600"/>
            <a:ext cx="9448495" cy="41148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645920" y="1737360"/>
            <a:ext cx="8899855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200"/>
              </a:spcAft>
              <a:defRPr sz="3600" b="1">
                <a:solidFill>
                  <a:srgbClr val="F8FAFC"/>
                </a:solidFill>
                <a:latin typeface="Segoe UI"/>
              </a:defRPr>
            </a:pPr>
            <a:r>
              <a:t>TERIMA KASIH</a:t>
            </a:r>
          </a:p>
          <a:p>
            <a:pPr algn="ctr">
              <a:spcAft>
                <a:spcPts val="2400"/>
              </a:spcAft>
              <a:defRPr sz="1600" b="1">
                <a:solidFill>
                  <a:srgbClr val="38BDF8"/>
                </a:solidFill>
                <a:latin typeface="Segoe UI"/>
              </a:defRPr>
            </a:pPr>
            <a:r>
              <a:t>Kami Siap Menerima Masukan, Saran, &amp; Pertanyaan dari Dewan Penguji</a:t>
            </a:r>
          </a:p>
          <a:p>
            <a:pPr algn="ctr">
              <a:spcAft>
                <a:spcPts val="2000"/>
              </a:spcAft>
              <a:defRPr sz="1300">
                <a:solidFill>
                  <a:srgbClr val="94A3B8"/>
                </a:solidFill>
                <a:latin typeface="Segoe UI"/>
              </a:defRPr>
            </a:pPr>
            <a:r>
              <a:t>Peningkatan Recall Deteksi Pejalan Kaki pada Kondisi Minim Cahaya</a:t>
            </a:r>
            <a:br/>
            <a:r>
              <a:t>Menggunakan YOLOv8 dan Augmentasi Pencahayaan Adaptif</a:t>
            </a:r>
          </a:p>
          <a:p>
            <a:pPr algn="ctr">
              <a:defRPr sz="1200" b="1">
                <a:solidFill>
                  <a:srgbClr val="34D399"/>
                </a:solidFill>
                <a:latin typeface="Segoe UI"/>
              </a:defRPr>
            </a:pPr>
            <a:r>
              <a:t>Kelompok 9 (Kelas 5PITA) — Krisantus Linardi &amp; Kristofer Leonard</a:t>
            </a:r>
            <a:br/>
            <a:r>
              <a:t>Visi Komputer (IF0PP006) — Semester Ganjil 2026/2027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Sidang Proposal UTS Visi Komputer — Kelompok 9 (Deteksi Pedestrian Low-Light)  |  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2454</Words>
  <Application>Microsoft Office PowerPoint</Application>
  <PresentationFormat>Widescreen</PresentationFormat>
  <Paragraphs>231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kristofer ryan</cp:lastModifiedBy>
  <cp:revision>2</cp:revision>
  <dcterms:created xsi:type="dcterms:W3CDTF">2013-01-27T09:14:16Z</dcterms:created>
  <dcterms:modified xsi:type="dcterms:W3CDTF">2026-10-13T03:54:24Z</dcterms:modified>
  <cp:category/>
</cp:coreProperties>
</file>